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preset uses the published ECMA DrawingML geometry definitions. The chevron has a two-stop linear gradient.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notes belong to the active slide. Internal links navigate without changing the presentation 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LDNOTES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5F46"/>
                </a:solidFill>
              </a:rPr>
              <a:t>FIELDNOTES / TUMBLER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0"/>
          </a:xfrm>
          <a:prstGeom prst="line">
            <a:avLst/>
          </a:prstGeom>
          <a:noFill/>
          <a:ln w="12700">
            <a:solidFill>
              <a:srgbClr val="C7D5C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hyperlink" Target="https://ecma-international.org/publications-and-standards/standards/ecma-376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and connectors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DrawingML presets, gradients, and line ends</a:t>
            </a:r>
            <a:endParaRPr lang="en-US" sz="1900" dirty="0"/>
          </a:p>
        </p:txBody>
      </p:sp>
      <p:sp>
        <p:nvSpPr>
          <p:cNvPr id="4" name="Gradient chevron"/>
          <p:cNvSpPr/>
          <p:nvPr/>
        </p:nvSpPr>
        <p:spPr>
          <a:xfrm>
            <a:off x="640080" y="2834640"/>
            <a:ext cx="2194560" cy="1097280"/>
          </a:xfrm>
          <a:prstGeom prst="chevron">
            <a:avLst/>
          </a:prstGeom>
          <a:gradFill>
            <a:gsLst>
              <a:gs pos="0">
                <a:srgbClr val="B9D7C3"/>
              </a:gs>
              <a:gs pos="100000">
                <a:srgbClr val="355F46"/>
              </a:gs>
            </a:gsLst>
            <a:lin ang="0" scaled="1"/>
          </a:gradFill>
          <a:ln w="19050">
            <a:solidFill>
              <a:srgbClr val="355F46"/>
            </a:solidFill>
            <a:prstDash val="solid"/>
          </a:ln>
        </p:spPr>
      </p:sp>
      <p:sp>
        <p:nvSpPr>
          <p:cNvPr id="5" name="hexagon"/>
          <p:cNvSpPr/>
          <p:nvPr/>
        </p:nvSpPr>
        <p:spPr>
          <a:xfrm>
            <a:off x="3474720" y="2834640"/>
            <a:ext cx="2194560" cy="1097280"/>
          </a:xfrm>
          <a:prstGeom prst="hexagon">
            <a:avLst/>
          </a:prstGeom>
          <a:solidFill>
            <a:srgbClr val="527C64"/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6" name="star5"/>
          <p:cNvSpPr/>
          <p:nvPr/>
        </p:nvSpPr>
        <p:spPr>
          <a:xfrm>
            <a:off x="6309360" y="2834640"/>
            <a:ext cx="2194560" cy="1097280"/>
          </a:xfrm>
          <a:prstGeom prst="star5">
            <a:avLst/>
          </a:prstGeom>
          <a:solidFill>
            <a:srgbClr val="527C64"/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7" name="cloud"/>
          <p:cNvSpPr/>
          <p:nvPr/>
        </p:nvSpPr>
        <p:spPr>
          <a:xfrm>
            <a:off x="9144000" y="2834640"/>
            <a:ext cx="2194560" cy="1097280"/>
          </a:xfrm>
          <a:prstGeom prst="cloud">
            <a:avLst/>
          </a:prstGeom>
          <a:solidFill>
            <a:srgbClr val="527C64"/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8" name="heart"/>
          <p:cNvSpPr/>
          <p:nvPr/>
        </p:nvSpPr>
        <p:spPr>
          <a:xfrm>
            <a:off x="640080" y="4297680"/>
            <a:ext cx="2194560" cy="1097280"/>
          </a:xfrm>
          <a:prstGeom prst="heart">
            <a:avLst/>
          </a:prstGeom>
          <a:solidFill>
            <a:srgbClr val="527C64"/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9" name="rightArrow"/>
          <p:cNvSpPr/>
          <p:nvPr/>
        </p:nvSpPr>
        <p:spPr>
          <a:xfrm>
            <a:off x="3474720" y="4297680"/>
            <a:ext cx="2194560" cy="1097280"/>
          </a:xfrm>
          <a:prstGeom prst="rightArrow">
            <a:avLst/>
          </a:prstGeom>
          <a:solidFill>
            <a:srgbClr val="527C64"/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10" name="flowChartDecision"/>
          <p:cNvSpPr/>
          <p:nvPr/>
        </p:nvSpPr>
        <p:spPr>
          <a:xfrm>
            <a:off x="6309360" y="4297680"/>
            <a:ext cx="2194560" cy="1097280"/>
          </a:xfrm>
          <a:prstGeom prst="flowChartDecision">
            <a:avLst/>
          </a:prstGeom>
          <a:solidFill>
            <a:srgbClr val="527C64"/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11" name="wedgeRoundRectCallout"/>
          <p:cNvSpPr/>
          <p:nvPr/>
        </p:nvSpPr>
        <p:spPr>
          <a:xfrm>
            <a:off x="9144000" y="4297680"/>
            <a:ext cx="2194560" cy="1097280"/>
          </a:xfrm>
          <a:prstGeom prst="wedgeRoundRectCallout">
            <a:avLst/>
          </a:prstGeom>
          <a:solidFill>
            <a:srgbClr val="527C64"/>
          </a:solidFill>
          <a:ln w="19050">
            <a:solidFill>
              <a:srgbClr val="355F46"/>
            </a:solidFill>
            <a:prstDash val="solid"/>
          </a:ln>
        </p:spPr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and navigation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Run formatting, hyperlinks, and speaker notes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55F46"/>
                </a:solidFill>
              </a:rPr>
              <a:t>Water: H</a:t>
            </a:r>
            <a:r>
              <a:rPr lang="en-US" sz="2600" baseline="-40000" dirty="0">
                <a:solidFill>
                  <a:srgbClr val="355F46"/>
                </a:solidFill>
              </a:rPr>
              <a:t>2</a:t>
            </a:r>
            <a:r>
              <a:rPr lang="en-US" sz="2600" dirty="0">
                <a:solidFill>
                  <a:srgbClr val="355F46"/>
                </a:solidFill>
              </a:rPr>
              <a:t>O. Area: x</a:t>
            </a:r>
            <a:r>
              <a:rPr lang="en-US" sz="2600" baseline="30000" dirty="0">
                <a:solidFill>
                  <a:srgbClr val="355F46"/>
                </a:solidFill>
              </a:rPr>
              <a:t>2</a:t>
            </a:r>
            <a:r>
              <a:rPr lang="en-US" sz="2600" strike="sngStrike" dirty="0">
                <a:solidFill>
                  <a:srgbClr val="355F46"/>
                </a:solidFill>
              </a:rPr>
              <a:t>  Updated</a:t>
            </a:r>
            <a:endParaRPr lang="en-US" sz="2600" dirty="0"/>
          </a:p>
        </p:txBody>
      </p:sp>
      <p:sp>
        <p:nvSpPr>
          <p:cNvPr id="5" name="Text 3">
            <a:hlinkClick r:id="rId1" tooltip="" action="ppaction://hlinksldjump"/>
          </p:cNvPr>
          <p:cNvSpPr/>
          <p:nvPr/>
        </p:nvSpPr>
        <p:spPr>
          <a:xfrm>
            <a:off x="64008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355F46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the shape gallery</a:t>
            </a:r>
            <a:endParaRPr lang="en-US" sz="2200" dirty="0"/>
          </a:p>
        </p:txBody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640080" y="4937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355F4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ECMA-376 specification</a:t>
            </a:r>
            <a:endParaRPr lang="en-US" sz="2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Theme-styled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Header and banding resolved from a built-in Office style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Milestone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Owner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Status</a:t>
                      </a:r>
                      <a:endParaRPr lang="en-US" sz="2000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Prototype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Design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Complete</a:t>
                      </a:r>
                      <a:endParaRPr lang="en-US" sz="2000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Review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Engineering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In progress</a:t>
                      </a:r>
                      <a:endParaRPr lang="en-US" sz="2000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Release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Team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/>
                        <a:t>Planned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Kryptonote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Everyday PowerPoint features</dc:title>
  <dc:subject>Original MIT-licensed Tumbler test fixture</dc:subject>
  <dc:creator>Tumbler</dc:creator>
  <cp:lastModifiedBy>Tumbler</cp:lastModifiedBy>
  <cp:revision>1</cp:revision>
  <dcterms:created xsi:type="dcterms:W3CDTF">2026-09-21T17:19:54Z</dcterms:created>
  <dcterms:modified xsi:type="dcterms:W3CDTF">2026-09-21T17:19:54Z</dcterms:modified>
</cp:coreProperties>
</file>