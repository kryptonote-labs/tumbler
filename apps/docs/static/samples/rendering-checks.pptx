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Design</c:v>
                </c:pt>
              </c:strCache>
            </c:strRef>
          </c:tx>
          <c:spPr>
            <a:solidFill>
              <a:srgbClr val="355F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30</c:v>
                </c:pt>
                <c:pt idx="2">
                  <c:v>-10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Engineering</c:v>
                </c:pt>
              </c:strCache>
            </c:strRef>
          </c:tx>
          <c:spPr>
            <a:solidFill>
              <a:srgbClr val="94B69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35</c:v>
                </c:pt>
                <c:pt idx="1">
                  <c:v>15</c:v>
                </c:pt>
                <c:pt idx="2">
                  <c:v>-20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Design</c:v>
                </c:pt>
              </c:strCache>
            </c:strRef>
          </c:tx>
          <c:spPr>
            <a:solidFill>
              <a:srgbClr val="355F4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355F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B69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55F46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30</c:v>
                </c:pt>
                <c:pt idx="2">
                  <c:v>-10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Trend</c:v>
                </c:pt>
              </c:strCache>
            </c:strRef>
          </c:tx>
          <c:spPr>
            <a:solidFill>
              <a:srgbClr val="355F46"/>
            </a:solidFill>
            <a:ln w="25400" cap="flat">
              <a:solidFill>
                <a:srgbClr val="355F4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4B69C"/>
              </a:solidFill>
              <a:ln w="9525" cap="flat">
                <a:solidFill>
                  <a:srgbClr val="355F46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</c:v>
                </c:pt>
                <c:pt idx="1">
                  <c:v>25</c:v>
                </c:pt>
                <c:pt idx="2">
                  <c:v>20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tile" Type="http://schemas.openxmlformats.org/officeDocument/2006/relationships/image" Target="../media/tile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video" Target="../media/media-5-1.mp4"/><Relationship Id="rId2" Type="http://schemas.microsoft.com/office/2007/relationships/media" Target="../media/media-5-1.mp4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55F46"/>
                </a:solidFill>
              </a:rPr>
              <a:t>Text fitting and tab stops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6557"/>
                </a:solidFill>
              </a:rPr>
              <a:t>The title fits its box. Amounts share a decimal tab stop.</a:t>
            </a:r>
            <a:endParaRPr lang="en-US" sz="1600" dirty="0"/>
          </a:p>
        </p:txBody>
      </p:sp>
      <p:sp>
        <p:nvSpPr>
          <p:cNvPr id="4" name="Autofit"/>
          <p:cNvSpPr/>
          <p:nvPr/>
        </p:nvSpPr>
        <p:spPr>
          <a:xfrm>
            <a:off x="640080" y="1828800"/>
            <a:ext cx="4572000" cy="640080"/>
          </a:xfrm>
          <a:prstGeom prst="rect">
            <a:avLst/>
          </a:prstGeom>
          <a:noFill/>
          <a:ln/>
        </p:spPr>
        <p:txBody>
          <a:bodyPr>
            <a:normAutofit fontScale="40000" lnSpcReduction="10000"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355F46"/>
                </a:solidFill>
              </a:rPr>
              <a:t>This long heading fits inside a deliberately small text box</a:t>
            </a:r>
            <a:endParaRPr lang="en-US" sz="3400" dirty="0"/>
          </a:p>
        </p:txBody>
      </p:sp>
      <p:sp>
        <p:nvSpPr>
          <p:cNvPr id="5" name="Decimal tabs"/>
          <p:cNvSpPr/>
          <p:nvPr/>
        </p:nvSpPr>
        <p:spPr>
          <a:xfrm>
            <a:off x="6400800" y="182880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tabLst>
                <a:tab pos="2743200" algn="dec"/>
              </a:tabLst>
            </a:pPr>
            <a:r>
              <a:rPr lang="en-US" sz="2200" dirty="0">
                <a:solidFill>
                  <a:srgbClr val="355F46"/>
                </a:solidFill>
              </a:rPr>
              <a:t>Research	12.50</a:t>
            </a:r>
            <a:endParaRPr lang="en-US" sz="2200" dirty="0"/>
          </a:p>
          <a:p>
            <a:pPr indent="0" marL="0">
              <a:buNone/>
              <a:tabLst>
                <a:tab pos="2743200" algn="dec"/>
              </a:tabLst>
            </a:pPr>
            <a:r>
              <a:rPr lang="en-US" sz="2200" dirty="0">
                <a:solidFill>
                  <a:srgbClr val="355F46"/>
                </a:solidFill>
              </a:rPr>
              <a:t>Engineering	980.00</a:t>
            </a:r>
            <a:endParaRPr lang="en-US" sz="2200" dirty="0"/>
          </a:p>
          <a:p>
            <a:pPr indent="0" marL="0">
              <a:buNone/>
              <a:tabLst>
                <a:tab pos="2743200" algn="dec"/>
              </a:tabLst>
            </a:pPr>
            <a:r>
              <a:rPr lang="en-US" sz="2200" dirty="0">
                <a:solidFill>
                  <a:srgbClr val="355F46"/>
                </a:solidFill>
              </a:rPr>
              <a:t>Review	6.25</a:t>
            </a:r>
            <a:endParaRPr lang="en-US" sz="2200" dirty="0"/>
          </a:p>
        </p:txBody>
      </p:sp>
      <p:sp>
        <p:nvSpPr>
          <p:cNvPr id="6" name="Script fonts"/>
          <p:cNvSpPr/>
          <p:nvPr/>
        </p:nvSpPr>
        <p:spPr>
          <a:xfrm>
            <a:off x="640080" y="36576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55F46"/>
                </a:solidFill>
              </a:rPr>
              <a:t>Latin · 日本語 · العربية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55F46"/>
                </a:solidFill>
              </a:rPr>
              <a:t>Pictures, patterns, and effects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6557"/>
                </a:solidFill>
              </a:rPr>
              <a:t>Tiled vector artwork, percentage and cross-hatch fills, glow, and softened edges.</a:t>
            </a:r>
            <a:endParaRPr lang="en-US" sz="1600" dirty="0"/>
          </a:p>
        </p:txBody>
      </p:sp>
      <p:sp>
        <p:nvSpPr>
          <p:cNvPr id="4" name="Picture fill"/>
          <p:cNvSpPr/>
          <p:nvPr/>
        </p:nvSpPr>
        <p:spPr>
          <a:xfrm>
            <a:off x="640080" y="2468880"/>
            <a:ext cx="1828800" cy="1828800"/>
          </a:xfrm>
          <a:prstGeom prst="roundRect">
            <a:avLst/>
          </a:prstGeom>
          <a:blipFill>
            <a:blip r:embed="tile"/>
            <a:tile sx="100000" sy="100000" tx="0" ty="0" algn="tl" flip="none"/>
          </a:blipFill>
          <a:ln w="12700">
            <a:solidFill>
              <a:srgbClr val="355F46"/>
            </a:solidFill>
            <a:prstDash val="solid"/>
          </a:ln>
        </p:spPr>
      </p:sp>
      <p:sp>
        <p:nvSpPr>
          <p:cNvPr id="5" name="Hatching"/>
          <p:cNvSpPr/>
          <p:nvPr/>
        </p:nvSpPr>
        <p:spPr>
          <a:xfrm>
            <a:off x="2926080" y="2468880"/>
            <a:ext cx="1828800" cy="1828800"/>
          </a:xfrm>
          <a:prstGeom prst="roundRect">
            <a:avLst/>
          </a:prstGeom>
          <a:pattFill prst="diagCross">
            <a:fgClr>
              <a:srgbClr val="355F46"/>
            </a:fgClr>
            <a:bgClr>
              <a:srgbClr val="DBE9DE"/>
            </a:bgClr>
          </a:pattFill>
          <a:ln w="12700">
            <a:solidFill>
              <a:srgbClr val="355F46"/>
            </a:solidFill>
            <a:prstDash val="solid"/>
          </a:ln>
        </p:spPr>
      </p:sp>
      <p:sp>
        <p:nvSpPr>
          <p:cNvPr id="6" name="Dots"/>
          <p:cNvSpPr/>
          <p:nvPr/>
        </p:nvSpPr>
        <p:spPr>
          <a:xfrm>
            <a:off x="5212080" y="2468880"/>
            <a:ext cx="1828800" cy="1828800"/>
          </a:xfrm>
          <a:prstGeom prst="roundRect">
            <a:avLst/>
          </a:prstGeom>
          <a:pattFill prst="pct20">
            <a:fgClr>
              <a:srgbClr val="355F46"/>
            </a:fgClr>
            <a:bgClr>
              <a:srgbClr val="DBE9DE"/>
            </a:bgClr>
          </a:pattFill>
          <a:ln w="12700">
            <a:solidFill>
              <a:srgbClr val="355F46"/>
            </a:solidFill>
            <a:prstDash val="solid"/>
          </a:ln>
        </p:spPr>
      </p:sp>
      <p:sp>
        <p:nvSpPr>
          <p:cNvPr id="7" name="Glow"/>
          <p:cNvSpPr/>
          <p:nvPr/>
        </p:nvSpPr>
        <p:spPr>
          <a:xfrm>
            <a:off x="7498080" y="2468880"/>
            <a:ext cx="1828800" cy="1828800"/>
          </a:xfrm>
          <a:prstGeom prst="roundRect">
            <a:avLst/>
          </a:prstGeom>
          <a:solidFill>
            <a:srgbClr val="94B69C"/>
          </a:solidFill>
          <a:ln w="12700">
            <a:solidFill>
              <a:srgbClr val="355F46"/>
            </a:solidFill>
            <a:prstDash val="solid"/>
          </a:ln>
          <a:effectLst>
            <a:glow rad="114300">
              <a:srgbClr val="355F46"/>
            </a:glow>
            <a:reflection stA="50000" sy="-100000" endPos="70000" algn="bl" dir="5400000" dist="57150"/>
          </a:effectLst>
        </p:spPr>
      </p:sp>
      <p:sp>
        <p:nvSpPr>
          <p:cNvPr id="8" name="Soft edge"/>
          <p:cNvSpPr/>
          <p:nvPr/>
        </p:nvSpPr>
        <p:spPr>
          <a:xfrm>
            <a:off x="9784080" y="2468880"/>
            <a:ext cx="1828800" cy="1828800"/>
          </a:xfrm>
          <a:prstGeom prst="roundRect">
            <a:avLst/>
          </a:prstGeom>
          <a:solidFill>
            <a:srgbClr val="94B69C"/>
          </a:solidFill>
          <a:ln w="12700">
            <a:solidFill>
              <a:srgbClr val="355F46"/>
            </a:solidFill>
            <a:prstDash val="solid"/>
          </a:ln>
          <a:effectLst>
            <a:softEdge rad="76200"/>
          </a:effectLst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55F46"/>
                </a:solidFill>
              </a:rPr>
              <a:t>Stacked values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6557"/>
                </a:solidFill>
              </a:rPr>
              <a:t>Positive and negative values stack separately.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828800"/>
          <a:ext cx="106984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55F46"/>
                </a:solidFill>
              </a:rPr>
              <a:t>Columns and a 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6557"/>
                </a:solidFill>
              </a:rPr>
              <a:t>Both plots share category positions and retain their own series type.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828800"/>
          <a:ext cx="106984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55F46"/>
                </a:solidFill>
              </a:rPr>
              <a:t>Embedded video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6557"/>
                </a:solidFill>
              </a:rPr>
              <a:t>The clip stays inside the document. Playback uses the browser controls.</a:t>
            </a:r>
            <a:endParaRPr lang="en-US" sz="1600" dirty="0"/>
          </a:p>
        </p:txBody>
      </p:sp>
      <p:pic>
        <p:nvPicPr>
          <p:cNvPr id="4" name="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194560" y="1828800"/>
            <a:ext cx="7799832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55F46"/>
                </a:solidFill>
              </a:rPr>
              <a:t>Click-by-click playback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6557"/>
                </a:solidFill>
              </a:rPr>
              <a:t>Choose Play animations, then Next animation to reveal each shape.</a:t>
            </a:r>
            <a:endParaRPr lang="en-US" sz="1600" dirty="0"/>
          </a:p>
        </p:txBody>
      </p:sp>
      <p:sp>
        <p:nvSpPr>
          <p:cNvPr id="4" name="Fade in"/>
          <p:cNvSpPr/>
          <p:nvPr/>
        </p:nvSpPr>
        <p:spPr>
          <a:xfrm>
            <a:off x="914400" y="2560320"/>
            <a:ext cx="4389120" cy="2194560"/>
          </a:xfrm>
          <a:prstGeom prst="roundRect">
            <a:avLst/>
          </a:prstGeom>
          <a:solidFill>
            <a:srgbClr val="355F46"/>
          </a:solidFill>
          <a:ln w="12700">
            <a:solidFill>
              <a:srgbClr val="355F46"/>
            </a:solidFill>
            <a:prstDash val="solid"/>
          </a:ln>
        </p:spPr>
      </p:sp>
      <p:sp>
        <p:nvSpPr>
          <p:cNvPr id="5" name="Wipe in"/>
          <p:cNvSpPr/>
          <p:nvPr/>
        </p:nvSpPr>
        <p:spPr>
          <a:xfrm>
            <a:off x="6766560" y="2560320"/>
            <a:ext cx="4389120" cy="2194560"/>
          </a:xfrm>
          <a:prstGeom prst="roundRect">
            <a:avLst/>
          </a:prstGeom>
          <a:solidFill>
            <a:srgbClr val="94B69C"/>
          </a:solidFill>
          <a:ln w="12700">
            <a:solidFill>
              <a:srgbClr val="355F46"/>
            </a:solidFill>
            <a:prstDash val="solid"/>
          </a:ln>
        </p:spPr>
      </p:sp>
    </p:spTree>
  </p:cSld>
  <p:clrMapOvr>
    <a:masterClrMapping/>
  </p:clrMapOvr>
  <p:transition spd="fast">
    <p:fade/>
  </p:transition>
  <p:timing>
    <p:tnLst>
      <p:par>
        <p:cTn id="100" dur="indefinite" restart="never" nodeType="tmRoot">
          <p:childTnLst>
            <p:seq concurrent="1" nextAc="seek">
              <p:cTn id="101" dur="indefinite" nodeType="mainSeq">
                <p:childTnLst>
                  <p:par>
                    <p:cTn id="1" nodeType="clickEffect">
                      <p:childTnLst>
                        <p:animEffect transition="in" filter="fade">
                          <p:cBhvr>
                            <p:cTn id="11" dur="5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2" nodeType="clickEffect">
                      <p:childTnLst>
                        <p:animEffect transition="in" filter="wipe(left)">
                          <p:cBhvr>
                            <p:cTn id="12"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rendering checks</dc:title>
  <dc:subject>Original MIT-licensed conformance examples</dc:subject>
  <dc:creator>Tumbler</dc:creator>
  <cp:lastModifiedBy>Tumbler</cp:lastModifiedBy>
  <cp:revision>1</cp:revision>
  <dcterms:created xsi:type="dcterms:W3CDTF">2026-09-21T20:17:09Z</dcterms:created>
  <dcterms:modified xsi:type="dcterms:W3CDTF">2026-09-21T20:17:09Z</dcterms:modified>
</cp:coreProperties>
</file>